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D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6E40"/>
                </a:solidFill>
              </a:rPr>
              <a:t>Bluestock Fintech — N100 Financial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8F9FA"/>
                </a:solidFill>
              </a:rPr>
              <a:t>Capstone Project I  |  Days 1–7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3D59"/>
                </a:solidFill>
              </a:rPr>
              <a:t>India's mutual fund industry has grown to ₹81+ Lakh Crore AUM with 26 Cr+ folios.
Challenge: No unified analytics view across fund performance, investor demographics,
           SIP trends, and risk metrics.
Project Objectives:
  1. Build a complete ETL pipeline ingesting 10 datasets into a structured SQLite DB.
  2. Perform EDA and Performance Analytics across 40 fund schemes.
  3. Compute VaR, CVaR, Rolling Sharpe, Sector HHI, and a Fund Scorecard.
  4. Deliver a live interactive Streamlit Dashboard + PDF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Sources &amp;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338560" cy="438912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309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E40"/>
                </a:solidFill>
              </a:rPr>
              <a:t>  fund_master.csv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3096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40 schemes with scheme metadata, expense ratios, risk grades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11338560" cy="438912"/>
          </a:xfrm>
          <a:prstGeom prst="rect">
            <a:avLst/>
          </a:prstGeom>
          <a:solidFill>
            <a:srgbClr val="2A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8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E40"/>
                </a:solidFill>
              </a:rPr>
              <a:t>  nav_history.csv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8816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Daily NAV data for all schemes (2020–2026)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11338560" cy="438912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53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E40"/>
                </a:solidFill>
              </a:rPr>
              <a:t>  investor_transactions.csv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24536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32,778 investor transactions (SIP/Lumpsum/Redemption)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51760"/>
            <a:ext cx="11338560" cy="438912"/>
          </a:xfrm>
          <a:prstGeom prst="rect">
            <a:avLst/>
          </a:prstGeom>
          <a:solidFill>
            <a:srgbClr val="2A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025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E40"/>
                </a:solidFill>
              </a:rPr>
              <a:t>  scheme_performance.csv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70256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Risk metrics: Sharpe, Alpha, Beta, Max Drawdown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11338560" cy="438912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97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E40"/>
                </a:solidFill>
              </a:rPr>
              <a:t>  portfolio_holdings.csv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15976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Stock-level holdings with sector &amp; weight for equity funds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11338560" cy="438912"/>
          </a:xfrm>
          <a:prstGeom prst="rect">
            <a:avLst/>
          </a:prstGeom>
          <a:solidFill>
            <a:srgbClr val="2A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169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E40"/>
                </a:solidFill>
              </a:rPr>
              <a:t>  aum_by_fund_house.csv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61696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Monthly AUM snapshots by fund house (2022–2025)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11338560" cy="438912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74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E40"/>
                </a:solidFill>
              </a:rPr>
              <a:t>  benchmark_indices.csv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07416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NIFTY50, NIFTY100, NIFTY_MIDCAP150, BSE_SMALLCAP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80560"/>
            <a:ext cx="11338560" cy="438912"/>
          </a:xfrm>
          <a:prstGeom prst="rect">
            <a:avLst/>
          </a:prstGeom>
          <a:solidFill>
            <a:srgbClr val="2A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313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E40"/>
                </a:solidFill>
              </a:rPr>
              <a:t>  category_inflows.csv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53136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Monthly net inflows by fund category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937760"/>
            <a:ext cx="11338560" cy="438912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885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E40"/>
                </a:solidFill>
              </a:rPr>
              <a:t>  industry_folio_count.csv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98856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Total industry folio count over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94960"/>
            <a:ext cx="11338560" cy="438912"/>
          </a:xfrm>
          <a:prstGeom prst="rect">
            <a:avLst/>
          </a:prstGeom>
          <a:solidFill>
            <a:srgbClr val="2A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457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E40"/>
                </a:solidFill>
              </a:rPr>
              <a:t>  monthly_sip_inflows.csv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44576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Aggregate monthly SIP industry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Architecture &amp; 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828800" cy="68580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478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RAW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49860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10 CSV Datasets (data/raw/)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828800" cy="685800"/>
          </a:xfrm>
          <a:prstGeom prst="rect">
            <a:avLst/>
          </a:prstGeom>
          <a:solidFill>
            <a:srgbClr val="17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622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41300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data_cleaning.py → SQLAlchemy → SQLite (bluestock_mf.db)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1828800" cy="68580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766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32740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EDA (Seaborn/Plotly) | Performance (SciPy) | Risk (NumPy)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1828800" cy="685800"/>
          </a:xfrm>
          <a:prstGeom prst="rect">
            <a:avLst/>
          </a:prstGeom>
          <a:solidFill>
            <a:srgbClr val="2A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910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24180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Streamlit + Plotly — 4-page interactive web 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29200"/>
            <a:ext cx="1828800" cy="6858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054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15620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Notebooks (.ipynb) | CSVs | PNGs | PPTX | Final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EDA Highlights — NAV &amp; AUM</a:t>
            </a:r>
          </a:p>
        </p:txBody>
      </p:sp>
      <p:pic>
        <p:nvPicPr>
          <p:cNvPr id="4" name="Picture 3" descr="1_nav_trend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2743200"/>
          </a:xfrm>
          <a:prstGeom prst="rect">
            <a:avLst/>
          </a:prstGeom>
        </p:spPr>
      </p:pic>
      <p:pic>
        <p:nvPicPr>
          <p:cNvPr id="5" name="Picture 4" descr="2_aum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11480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3D59"/>
                </a:solidFill>
              </a:rPr>
              <a:t>NAV trend shows a strong 2023 bull run. SBI Mutual Fund dominates AUM at ₹12.5L+ Cr.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EDA Highlights — Investors &amp; SIP</a:t>
            </a:r>
          </a:p>
        </p:txBody>
      </p:sp>
      <p:pic>
        <p:nvPicPr>
          <p:cNvPr id="4" name="Picture 3" descr="3_sip_inflow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2560320"/>
          </a:xfrm>
          <a:prstGeom prst="rect">
            <a:avLst/>
          </a:prstGeom>
        </p:spPr>
      </p:pic>
      <p:pic>
        <p:nvPicPr>
          <p:cNvPr id="5" name="Picture 4" descr="5_investor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02336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3D59"/>
                </a:solidFill>
              </a:rPr>
              <a:t>SIP inflows hit an all-time high of ₹31,002 Cr in Dec 2025. Millennials drive the majority of new SIP accounts.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Fund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560320" cy="59436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56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E40"/>
                </a:solidFill>
              </a:rPr>
              <a:t>CAGR (3yr)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0716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Best: Axis Small Cap 22.4% | Category Avg: 14.2%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2560320" cy="59436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61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E40"/>
                </a:solidFill>
              </a:rPr>
              <a:t>Sharpe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5696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Best: Mirae Asset Large Cap 1.085 | Rf = 6.5% (RBI Repo)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79776"/>
            <a:ext cx="2560320" cy="59436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5597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E40"/>
                </a:solidFill>
              </a:rPr>
              <a:t>Sortino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906776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Penalises only downside volatility — more robust for asymmetric returns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9584"/>
            <a:ext cx="2560320" cy="59436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0578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E40"/>
                </a:solidFill>
              </a:rPr>
              <a:t>Alpha (Annualised)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56584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Top alpha generators are predominantly Small/Mid Cap funds vs NIFTY100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79392"/>
            <a:ext cx="2560320" cy="59436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35559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E40"/>
                </a:solidFill>
              </a:rPr>
              <a:t>Beta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40639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Large Cap funds: β ≈ 0.85–1.05 | Small Cap: β ≈ 1.2–1.5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29200"/>
            <a:ext cx="2560320" cy="59436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105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E40"/>
                </a:solidFill>
              </a:rPr>
              <a:t>Max Drawdown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1562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Worst drawdown: Axis Small Cap -51.7% (COVID crash reference)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Benchmark Comparison &amp; Scorecard</a:t>
            </a:r>
          </a:p>
        </p:txBody>
      </p:sp>
      <p:pic>
        <p:nvPicPr>
          <p:cNvPr id="4" name="Picture 3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2801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D59"/>
                </a:solidFill>
              </a:rPr>
              <a:t>Fund Scorecard (0–100)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82880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30% — 3yr CAGR Rank
25% — Sharpe Rank
20% — Alpha Rank
15% — Expense Ratio (inv.)
10% — Max Drawdown (inv.)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Streamlit Dashboard — Industry &amp; Performance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Page 1: Industry Overview
• KPI Cards: AUM, SIP, Folios, Schemes
• AUM Trend Line + AMC Bar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Page 2: Fund Performance
• Risk vs Return Scatter (Bubble = Score)
• Sortable Fund Scorecard Table
• NAV Trend with Fund Selector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E40"/>
                </a:solidFill>
              </a:rPr>
              <a:t>Dashboard is live at: python -m streamlit run dashboard/app.py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Streamlit Dashboard — Investor &amp; Market Trend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Page 3: Investor Analytics
• Transaction Amounts by State
• SIP/Lumpsum/Redemption Split Donut
• Age Group vs Average SIP Amount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Page 4: SIP &amp; Market Trends
• Dual-Axis: SIP Inflows vs NIFTY 50
• Category Inflow Heatmap
• Top 5 Categories by Net Inflow</a:t>
            </a:r>
          </a:p>
        </p:txBody>
      </p:sp>
      <p:pic>
        <p:nvPicPr>
          <p:cNvPr id="6" name="Picture 5" descr="4_category_inflow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10972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1. SBI Mutual Fund commands 15%+ of total AUM — concentration risk for the industry.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470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2. SIP culture is booming — monthly SIP inflows grew 3× between Jan 2022 and Dec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1401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3. Mirae Asset Large Cap delivers the best risk-adjusted returns (Sharpe: 1.085).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8094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4. ~18% of SIP investors show irregular payment gaps (&gt; 35 days) — at-risk of lapsing.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478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5. Small Cap funds carry the highest VaR, up to -1.9% daily at the 95% confidence level.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D59"/>
                </a:solidFill>
              </a:rPr>
              <a:t>6. T30 cities still dominate 68% of SIP inflows; B30 penetration needs targeted campaigns.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817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E40"/>
                </a:solidFill>
              </a:rPr>
              <a:t>Recommendation: Moderate risk investors should prioritise Mirae Asset Large Cap &amp; Kotak Flexicap.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4865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E40"/>
                </a:solidFill>
              </a:rPr>
              <a:t>Recommendation: Investors in High-VaR funds should ensure a 3yr+ investment horizon.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D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6E40"/>
                </a:solidFill>
              </a:rPr>
              <a:t>Bluestock Fintech — Capstone Project I: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8F9FA"/>
                </a:solidFill>
              </a:rPr>
              <a:t>GitHub: github.com/binod01nep/MutualFundAnalytics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8F9FA"/>
                </a:solidFill>
              </a:rPr>
              <a:t>Dashboard: python -m streamlit run dashboard/app.py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